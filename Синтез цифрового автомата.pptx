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6" r:id="rId11"/>
    <p:sldId id="267" r:id="rId12"/>
    <p:sldId id="270" r:id="rId13"/>
    <p:sldId id="268" r:id="rId14"/>
    <p:sldId id="269" r:id="rId15"/>
    <p:sldId id="271" r:id="rId16"/>
    <p:sldId id="272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53" d="100"/>
          <a:sy n="53" d="100"/>
        </p:scale>
        <p:origin x="-62" y="-7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0B52-C569-4733-9573-19B0E8318782}" type="datetimeFigureOut">
              <a:rPr lang="ru-RU" smtClean="0"/>
              <a:pPr/>
              <a:t>25.05.2021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19B0-7CB9-4C60-987D-8C931995F1B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78774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0B52-C569-4733-9573-19B0E8318782}" type="datetimeFigureOut">
              <a:rPr lang="ru-RU" smtClean="0"/>
              <a:pPr/>
              <a:t>25.05.2021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19B0-7CB9-4C60-987D-8C931995F1B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081165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0B52-C569-4733-9573-19B0E8318782}" type="datetimeFigureOut">
              <a:rPr lang="ru-RU" smtClean="0"/>
              <a:pPr/>
              <a:t>25.05.2021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19B0-7CB9-4C60-987D-8C931995F1B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44956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0B52-C569-4733-9573-19B0E8318782}" type="datetimeFigureOut">
              <a:rPr lang="ru-RU" smtClean="0"/>
              <a:pPr/>
              <a:t>25.05.2021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19B0-7CB9-4C60-987D-8C931995F1B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15749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0B52-C569-4733-9573-19B0E8318782}" type="datetimeFigureOut">
              <a:rPr lang="ru-RU" smtClean="0"/>
              <a:pPr/>
              <a:t>25.05.2021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19B0-7CB9-4C60-987D-8C931995F1B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25515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0B52-C569-4733-9573-19B0E8318782}" type="datetimeFigureOut">
              <a:rPr lang="ru-RU" smtClean="0"/>
              <a:pPr/>
              <a:t>25.05.2021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19B0-7CB9-4C60-987D-8C931995F1B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19015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0B52-C569-4733-9573-19B0E8318782}" type="datetimeFigureOut">
              <a:rPr lang="ru-RU" smtClean="0"/>
              <a:pPr/>
              <a:t>25.05.2021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19B0-7CB9-4C60-987D-8C931995F1B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44065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0B52-C569-4733-9573-19B0E8318782}" type="datetimeFigureOut">
              <a:rPr lang="ru-RU" smtClean="0"/>
              <a:pPr/>
              <a:t>25.05.2021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19B0-7CB9-4C60-987D-8C931995F1B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7458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0B52-C569-4733-9573-19B0E8318782}" type="datetimeFigureOut">
              <a:rPr lang="ru-RU" smtClean="0"/>
              <a:pPr/>
              <a:t>25.05.2021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19B0-7CB9-4C60-987D-8C931995F1B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742748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0B52-C569-4733-9573-19B0E8318782}" type="datetimeFigureOut">
              <a:rPr lang="ru-RU" smtClean="0"/>
              <a:pPr/>
              <a:t>25.05.2021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19B0-7CB9-4C60-987D-8C931995F1B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09793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40B52-C569-4733-9573-19B0E8318782}" type="datetimeFigureOut">
              <a:rPr lang="ru-RU" smtClean="0"/>
              <a:pPr/>
              <a:t>25.05.2021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219B0-7CB9-4C60-987D-8C931995F1B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74091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40B52-C569-4733-9573-19B0E8318782}" type="datetimeFigureOut">
              <a:rPr lang="ru-RU" smtClean="0"/>
              <a:pPr/>
              <a:t>25.05.2021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219B0-7CB9-4C60-987D-8C931995F1B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36133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Синтез цифрового автомата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71571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23262" y="636904"/>
            <a:ext cx="6667498" cy="5930566"/>
          </a:xfrm>
        </p:spPr>
      </p:pic>
    </p:spTree>
    <p:extLst>
      <p:ext uri="{BB962C8B-B14F-4D97-AF65-F5344CB8AC3E}">
        <p14:creationId xmlns:p14="http://schemas.microsoft.com/office/powerpoint/2010/main" xmlns="" val="40967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807145640"/>
              </p:ext>
            </p:extLst>
          </p:nvPr>
        </p:nvGraphicFramePr>
        <p:xfrm>
          <a:off x="1242692" y="1832450"/>
          <a:ext cx="2521587" cy="21909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2627"/>
                <a:gridCol w="844480"/>
                <a:gridCol w="844480"/>
              </a:tblGrid>
              <a:tr h="4381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s1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381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381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381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S2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381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S3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4312921" y="-1021081"/>
            <a:ext cx="28445619" cy="1168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21417435"/>
              </p:ext>
            </p:extLst>
          </p:nvPr>
        </p:nvGraphicFramePr>
        <p:xfrm>
          <a:off x="4671693" y="1831815"/>
          <a:ext cx="2094866" cy="21915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91724"/>
                <a:gridCol w="701571"/>
                <a:gridCol w="701571"/>
              </a:tblGrid>
              <a:tr h="54788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X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x1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x0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54788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X0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54788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X1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54788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X2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556250" y="36417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07917592"/>
              </p:ext>
            </p:extLst>
          </p:nvPr>
        </p:nvGraphicFramePr>
        <p:xfrm>
          <a:off x="7368538" y="1831815"/>
          <a:ext cx="2110743" cy="21915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96967"/>
                <a:gridCol w="706888"/>
                <a:gridCol w="706888"/>
              </a:tblGrid>
              <a:tr h="8344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Y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y1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y0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5238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Y0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5238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Y1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5238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Y2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7673973" y="180133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72698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Таблица переходов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865085787"/>
              </p:ext>
            </p:extLst>
          </p:nvPr>
        </p:nvGraphicFramePr>
        <p:xfrm>
          <a:off x="1996442" y="1478280"/>
          <a:ext cx="8275317" cy="3992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6514"/>
                <a:gridCol w="1188374"/>
                <a:gridCol w="1266299"/>
                <a:gridCol w="922125"/>
                <a:gridCol w="919960"/>
                <a:gridCol w="919960"/>
                <a:gridCol w="919960"/>
                <a:gridCol w="922125"/>
              </a:tblGrid>
              <a:tr h="3327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Из (</a:t>
                      </a:r>
                      <a:r>
                        <a:rPr lang="en-US" sz="2000" dirty="0">
                          <a:effectLst/>
                        </a:rPr>
                        <a:t>S(t))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В (</a:t>
                      </a:r>
                      <a:r>
                        <a:rPr lang="en-US" sz="2000">
                          <a:effectLst/>
                        </a:rPr>
                        <a:t>S(t+1)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По (</a:t>
                      </a:r>
                      <a:r>
                        <a:rPr lang="en-US" sz="2000">
                          <a:effectLst/>
                        </a:rPr>
                        <a:t>X)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 (Y)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14492947" y="-240489"/>
            <a:ext cx="41560589" cy="887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68100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Таблица переходов для ЭА на </a:t>
            </a:r>
            <a:r>
              <a:rPr lang="en-US" dirty="0" smtClean="0"/>
              <a:t>D</a:t>
            </a:r>
            <a:r>
              <a:rPr lang="ru-RU" dirty="0" smtClean="0"/>
              <a:t>-триггерах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864259592"/>
              </p:ext>
            </p:extLst>
          </p:nvPr>
        </p:nvGraphicFramePr>
        <p:xfrm>
          <a:off x="2484117" y="1524002"/>
          <a:ext cx="6690362" cy="43738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61483"/>
                <a:gridCol w="567772"/>
                <a:gridCol w="761483"/>
                <a:gridCol w="761483"/>
                <a:gridCol w="567772"/>
                <a:gridCol w="761483"/>
                <a:gridCol w="569109"/>
                <a:gridCol w="761483"/>
                <a:gridCol w="567772"/>
                <a:gridCol w="610522"/>
              </a:tblGrid>
              <a:tr h="686039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Из (</a:t>
                      </a:r>
                      <a:r>
                        <a:rPr lang="en-US" sz="2000" dirty="0">
                          <a:effectLst/>
                        </a:rPr>
                        <a:t>S(t))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ЭА  </a:t>
                      </a:r>
                      <a:r>
                        <a:rPr lang="en-US" sz="2000">
                          <a:effectLst/>
                        </a:rPr>
                        <a:t>D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В (</a:t>
                      </a:r>
                      <a:r>
                        <a:rPr lang="en-US" sz="2000">
                          <a:effectLst/>
                        </a:rPr>
                        <a:t>S(t+1)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По (</a:t>
                      </a:r>
                      <a:r>
                        <a:rPr lang="en-US" sz="2000">
                          <a:effectLst/>
                        </a:rPr>
                        <a:t>X)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 (Y)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352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52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52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52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52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52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52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52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52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52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52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7751463" y="-286358"/>
            <a:ext cx="25649939" cy="894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7354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1201400" cy="56451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Построение функций входа для ЭА на </a:t>
            </a:r>
            <a:r>
              <a:rPr lang="en-US" dirty="0" smtClean="0"/>
              <a:t>D</a:t>
            </a:r>
            <a:r>
              <a:rPr lang="ru-RU" dirty="0" smtClean="0"/>
              <a:t>-триггерах</a:t>
            </a:r>
            <a:endParaRPr lang="ru-RU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3459481" y="-1295400"/>
            <a:ext cx="16769077" cy="798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8086408" y="252349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4440" y="1542414"/>
            <a:ext cx="6593054" cy="4309745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564" y="1792069"/>
            <a:ext cx="2569596" cy="1888207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564" y="3921177"/>
            <a:ext cx="2516506" cy="193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29457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63" y="365126"/>
            <a:ext cx="11001375" cy="8636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Построение </a:t>
            </a:r>
            <a:r>
              <a:rPr lang="ru-RU" dirty="0" smtClean="0"/>
              <a:t>ТДНФ функций </a:t>
            </a:r>
            <a:r>
              <a:rPr lang="ru-RU" dirty="0" smtClean="0"/>
              <a:t>входа для ЭА на </a:t>
            </a:r>
            <a:r>
              <a:rPr lang="en-US" dirty="0" smtClean="0"/>
              <a:t>D</a:t>
            </a:r>
            <a:r>
              <a:rPr lang="ru-RU" dirty="0" smtClean="0"/>
              <a:t>-триггерах</a:t>
            </a:r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4824" y="1931511"/>
            <a:ext cx="6653214" cy="355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81913" y="1724024"/>
            <a:ext cx="4248150" cy="3760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Синтез КС для </a:t>
            </a:r>
            <a:r>
              <a:rPr lang="en-US" dirty="0" smtClean="0"/>
              <a:t>s(t+1)1 (</a:t>
            </a:r>
            <a:r>
              <a:rPr lang="ru-RU" dirty="0" smtClean="0"/>
              <a:t>ЭА </a:t>
            </a:r>
            <a:r>
              <a:rPr lang="en-US" dirty="0" smtClean="0"/>
              <a:t>D0)</a:t>
            </a:r>
            <a:endParaRPr lang="ru-RU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46772" y="2160111"/>
            <a:ext cx="6933476" cy="3583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38901" y="1747837"/>
            <a:ext cx="5229225" cy="361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Синтез КС для </a:t>
            </a:r>
            <a:r>
              <a:rPr lang="en-US" dirty="0" smtClean="0"/>
              <a:t>s(t+1)1 (</a:t>
            </a:r>
            <a:r>
              <a:rPr lang="ru-RU" dirty="0" smtClean="0"/>
              <a:t>ЭА </a:t>
            </a:r>
            <a:r>
              <a:rPr lang="en-US" dirty="0" smtClean="0"/>
              <a:t>D1)</a:t>
            </a:r>
            <a:endParaRPr lang="ru-RU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90587" y="2064860"/>
            <a:ext cx="4665563" cy="3607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48363" y="1976436"/>
            <a:ext cx="5098676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5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Оптимизация КС </a:t>
            </a:r>
            <a:r>
              <a:rPr lang="en-US" dirty="0" smtClean="0"/>
              <a:t>S(t+1)</a:t>
            </a:r>
            <a:endParaRPr lang="ru-RU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44856" y="1073382"/>
            <a:ext cx="3444539" cy="1958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35089" y="3235324"/>
            <a:ext cx="4092575" cy="295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76938" y="1589088"/>
            <a:ext cx="4694237" cy="399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63" y="365125"/>
            <a:ext cx="11115675" cy="79216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Построение функций </a:t>
            </a:r>
            <a:r>
              <a:rPr lang="ru-RU" dirty="0" smtClean="0"/>
              <a:t>выхода </a:t>
            </a:r>
            <a:r>
              <a:rPr lang="ru-RU" dirty="0" smtClean="0"/>
              <a:t>для ЭА на </a:t>
            </a:r>
            <a:r>
              <a:rPr lang="en-US" dirty="0" smtClean="0"/>
              <a:t>D</a:t>
            </a:r>
            <a:r>
              <a:rPr lang="ru-RU" dirty="0" smtClean="0"/>
              <a:t>-триггерах</a:t>
            </a:r>
            <a:endParaRPr lang="ru-RU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27331" y="1625600"/>
            <a:ext cx="4336612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94463" y="2709863"/>
            <a:ext cx="4373563" cy="2636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922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Построение ТДНФ функций </a:t>
            </a:r>
            <a:r>
              <a:rPr lang="ru-RU" dirty="0" smtClean="0"/>
              <a:t>в</a:t>
            </a:r>
            <a:r>
              <a:rPr lang="ru-RU" dirty="0" smtClean="0"/>
              <a:t>ы</a:t>
            </a:r>
            <a:r>
              <a:rPr lang="ru-RU" dirty="0" smtClean="0"/>
              <a:t>хода </a:t>
            </a:r>
            <a:r>
              <a:rPr lang="ru-RU" dirty="0" smtClean="0"/>
              <a:t>для ЭА на </a:t>
            </a:r>
            <a:r>
              <a:rPr lang="en-US" dirty="0" smtClean="0"/>
              <a:t>D</a:t>
            </a:r>
            <a:r>
              <a:rPr lang="ru-RU" dirty="0" smtClean="0"/>
              <a:t>-триггерах</a:t>
            </a:r>
            <a:endParaRPr lang="ru-RU" dirty="0"/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24774" y="1983775"/>
            <a:ext cx="4175889" cy="4024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27749" y="1957388"/>
            <a:ext cx="3844926" cy="41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Синтез КС для </a:t>
            </a:r>
            <a:r>
              <a:rPr lang="en-US" dirty="0" smtClean="0"/>
              <a:t>y1</a:t>
            </a:r>
            <a:endParaRPr lang="ru-RU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530538" y="2000905"/>
            <a:ext cx="7591487" cy="4157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Синтез КС для </a:t>
            </a:r>
            <a:r>
              <a:rPr lang="en-US" dirty="0" smtClean="0"/>
              <a:t>y0</a:t>
            </a:r>
            <a:endParaRPr lang="ru-RU" dirty="0"/>
          </a:p>
        </p:txBody>
      </p:sp>
      <p:pic>
        <p:nvPicPr>
          <p:cNvPr id="81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416249" y="1858040"/>
            <a:ext cx="8017658" cy="424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7913"/>
          </a:xfrm>
        </p:spPr>
        <p:txBody>
          <a:bodyPr/>
          <a:lstStyle/>
          <a:p>
            <a:r>
              <a:rPr lang="ru-RU" dirty="0" smtClean="0"/>
              <a:t>Логическая схема цифрового </a:t>
            </a:r>
            <a:r>
              <a:rPr lang="ru-RU" dirty="0" smtClean="0"/>
              <a:t>автомата</a:t>
            </a:r>
            <a:endParaRPr lang="ru-RU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71638" y="1744634"/>
            <a:ext cx="8877650" cy="474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786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Оптимизированная схема</a:t>
            </a:r>
            <a:endParaRPr lang="ru-RU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38950" y="1243013"/>
            <a:ext cx="8709992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351</Words>
  <Application>Microsoft Office PowerPoint</Application>
  <PresentationFormat>Произвольный</PresentationFormat>
  <Paragraphs>260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Тема Office</vt:lpstr>
      <vt:lpstr>Синтез цифрового автомата</vt:lpstr>
      <vt:lpstr>Слайд 2</vt:lpstr>
      <vt:lpstr>Слайд 3</vt:lpstr>
      <vt:lpstr>Таблица переходов</vt:lpstr>
      <vt:lpstr>Таблица переходов для ЭА на D-триггерах</vt:lpstr>
      <vt:lpstr>Построение функций входа для ЭА на D-триггерах</vt:lpstr>
      <vt:lpstr>Построение ТДНФ функций входа для ЭА на D-триггерах</vt:lpstr>
      <vt:lpstr>Синтез КС для s(t+1)1 (ЭА D0)</vt:lpstr>
      <vt:lpstr>Синтез КС для s(t+1)1 (ЭА D1)</vt:lpstr>
      <vt:lpstr>Оптимизация КС S(t+1)</vt:lpstr>
      <vt:lpstr>Построение функций выхода для ЭА на D-триггерах</vt:lpstr>
      <vt:lpstr>Построение ТДНФ функций выхода для ЭА на D-триггерах</vt:lpstr>
      <vt:lpstr>Синтез КС для y1</vt:lpstr>
      <vt:lpstr>Синтез КС для y0</vt:lpstr>
      <vt:lpstr>Логическая схема цифрового автомата</vt:lpstr>
      <vt:lpstr>Оптимизированная схема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Синтез цифрового автомата</dc:title>
  <dc:creator>ВСС</dc:creator>
  <cp:lastModifiedBy>asus</cp:lastModifiedBy>
  <cp:revision>23</cp:revision>
  <dcterms:created xsi:type="dcterms:W3CDTF">2021-05-25T07:44:25Z</dcterms:created>
  <dcterms:modified xsi:type="dcterms:W3CDTF">2021-05-25T19:10:20Z</dcterms:modified>
</cp:coreProperties>
</file>