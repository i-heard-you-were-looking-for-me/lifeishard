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 b="def" i="def"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Текст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Текст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Рисунок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tif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t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tif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6"/>
          <p:cNvSpPr txBox="1"/>
          <p:nvPr/>
        </p:nvSpPr>
        <p:spPr>
          <a:xfrm>
            <a:off x="498229" y="1620746"/>
            <a:ext cx="6530088" cy="193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4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Выпускная квалификационная работа </a:t>
            </a:r>
            <a:br/>
            <a:r>
              <a:t>Информационная система для</a:t>
            </a:r>
          </a:p>
          <a:p>
            <a:pPr>
              <a:defRPr b="1" sz="24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оценки уровня релевантности индикатора компрометации в финансовой сфере</a:t>
            </a:r>
          </a:p>
        </p:txBody>
      </p:sp>
      <p:sp>
        <p:nvSpPr>
          <p:cNvPr id="95" name="TextBox 1"/>
          <p:cNvSpPr txBox="1"/>
          <p:nvPr/>
        </p:nvSpPr>
        <p:spPr>
          <a:xfrm>
            <a:off x="332698" y="5143500"/>
            <a:ext cx="4516858" cy="929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Выполнил Клепиков Степан, УИБ-412</a:t>
            </a:r>
          </a:p>
          <a:p>
            <a:pPr>
              <a:defRPr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</a:p>
          <a:p>
            <a:pPr>
              <a:defRPr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Доцент кафедры ВССиИБ </a:t>
            </a:r>
            <a:r>
              <a:t>–</a:t>
            </a:r>
            <a:r>
              <a:t> Д.Н. Данилюк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Рисунок 3" descr="Рисунок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0163" y="1703388"/>
            <a:ext cx="8340868" cy="4555524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Заголовок 1"/>
          <p:cNvSpPr txBox="1"/>
          <p:nvPr>
            <p:ph type="title"/>
          </p:nvPr>
        </p:nvSpPr>
        <p:spPr>
          <a:xfrm>
            <a:off x="647699" y="377825"/>
            <a:ext cx="6836835" cy="1325563"/>
          </a:xfrm>
          <a:prstGeom prst="rect">
            <a:avLst/>
          </a:prstGeom>
        </p:spPr>
        <p:txBody>
          <a:bodyPr/>
          <a:lstStyle>
            <a:lvl1pPr>
              <a:defRPr b="1" sz="28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Актуальность</a:t>
            </a:r>
          </a:p>
        </p:txBody>
      </p:sp>
      <p:sp>
        <p:nvSpPr>
          <p:cNvPr id="99" name="TextBox 5"/>
          <p:cNvSpPr txBox="1"/>
          <p:nvPr/>
        </p:nvSpPr>
        <p:spPr>
          <a:xfrm>
            <a:off x="11727968" y="6258910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Заголовок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28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Цели и задачи</a:t>
            </a:r>
          </a:p>
        </p:txBody>
      </p:sp>
      <p:sp>
        <p:nvSpPr>
          <p:cNvPr id="102" name="Объект 2"/>
          <p:cNvSpPr txBox="1"/>
          <p:nvPr>
            <p:ph type="body" idx="1"/>
          </p:nvPr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/>
          <a:lstStyle/>
          <a:p>
            <a:pPr marL="0" indent="0" algn="just">
              <a:buSzTx/>
              <a:buNone/>
              <a:defRPr b="1"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Цель работы </a:t>
            </a:r>
            <a:r>
              <a:rPr b="0"/>
              <a:t>- анализ факторов, влияющих на релевантность индикатора компрометации и разработка системы оценки входящего индикатора компрометации. </a:t>
            </a:r>
          </a:p>
          <a:p>
            <a:pPr marL="0" indent="0" algn="just">
              <a:buSzTx/>
              <a:buNone/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</a:p>
          <a:p>
            <a:pPr marL="0" indent="0" algn="just">
              <a:buSzTx/>
              <a:buNone/>
              <a:defRPr b="1"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Задачи работы:</a:t>
            </a:r>
          </a:p>
          <a:p>
            <a:pPr algn="just">
              <a:lnSpc>
                <a:spcPct val="100000"/>
              </a:lnSpc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Анализ источников и видов индикаторов компрометации, юридических и правовых аспектов и стандартов при обмене индикаторами компрометации;</a:t>
            </a:r>
          </a:p>
          <a:p>
            <a:pPr algn="just">
              <a:lnSpc>
                <a:spcPct val="100000"/>
              </a:lnSpc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Разработка критериев для оценки релевантности индикаторов компрометации в финансовой сфере;</a:t>
            </a:r>
          </a:p>
          <a:p>
            <a:pPr algn="just">
              <a:lnSpc>
                <a:spcPct val="100000"/>
              </a:lnSpc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Разработка информационной системы оценки релевантности индикатора компрометации в финансовой сфере.</a:t>
            </a:r>
          </a:p>
        </p:txBody>
      </p:sp>
      <p:sp>
        <p:nvSpPr>
          <p:cNvPr id="103" name="TextBox 3"/>
          <p:cNvSpPr txBox="1"/>
          <p:nvPr/>
        </p:nvSpPr>
        <p:spPr>
          <a:xfrm>
            <a:off x="11727968" y="6258910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Заголовок 1"/>
          <p:cNvSpPr txBox="1"/>
          <p:nvPr>
            <p:ph type="title"/>
          </p:nvPr>
        </p:nvSpPr>
        <p:spPr>
          <a:xfrm>
            <a:off x="838200" y="365125"/>
            <a:ext cx="6738257" cy="1325563"/>
          </a:xfrm>
          <a:prstGeom prst="rect">
            <a:avLst/>
          </a:prstGeom>
        </p:spPr>
        <p:txBody>
          <a:bodyPr/>
          <a:lstStyle>
            <a:lvl1pPr>
              <a:defRPr b="1" sz="28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Роль индикаторов компрометации в информационной безопасности </a:t>
            </a:r>
          </a:p>
        </p:txBody>
      </p:sp>
      <p:sp>
        <p:nvSpPr>
          <p:cNvPr id="106" name="Объект 2"/>
          <p:cNvSpPr txBox="1"/>
          <p:nvPr>
            <p:ph type="body" sz="quarter" idx="1"/>
          </p:nvPr>
        </p:nvSpPr>
        <p:spPr>
          <a:xfrm>
            <a:off x="824914" y="1910890"/>
            <a:ext cx="5184229" cy="1461886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192.248.165.254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F</a:t>
            </a:r>
            <a:r>
              <a:t>6d5246abdd434a24a6739869eaac132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93.92.113.33</a:t>
            </a:r>
          </a:p>
        </p:txBody>
      </p:sp>
      <p:sp>
        <p:nvSpPr>
          <p:cNvPr id="107" name="TextBox 5"/>
          <p:cNvSpPr txBox="1"/>
          <p:nvPr/>
        </p:nvSpPr>
        <p:spPr>
          <a:xfrm>
            <a:off x="11727968" y="6258910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4</a:t>
            </a:r>
          </a:p>
        </p:txBody>
      </p:sp>
      <p:grpSp>
        <p:nvGrpSpPr>
          <p:cNvPr id="114" name="Схема 9"/>
          <p:cNvGrpSpPr/>
          <p:nvPr/>
        </p:nvGrpSpPr>
        <p:grpSpPr>
          <a:xfrm>
            <a:off x="7931252" y="1524497"/>
            <a:ext cx="2379154" cy="4196706"/>
            <a:chOff x="0" y="0"/>
            <a:chExt cx="2379153" cy="4196704"/>
          </a:xfrm>
        </p:grpSpPr>
        <p:sp>
          <p:nvSpPr>
            <p:cNvPr id="108" name="Shape"/>
            <p:cNvSpPr/>
            <p:nvPr/>
          </p:nvSpPr>
          <p:spPr>
            <a:xfrm>
              <a:off x="580826" y="0"/>
              <a:ext cx="1797432" cy="19169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129"/>
                  </a:moveTo>
                  <a:cubicBezTo>
                    <a:pt x="0" y="4535"/>
                    <a:pt x="4835" y="0"/>
                    <a:pt x="10800" y="0"/>
                  </a:cubicBezTo>
                  <a:cubicBezTo>
                    <a:pt x="16765" y="0"/>
                    <a:pt x="21600" y="4535"/>
                    <a:pt x="21600" y="10129"/>
                  </a:cubicBezTo>
                  <a:cubicBezTo>
                    <a:pt x="21600" y="14878"/>
                    <a:pt x="18081" y="18990"/>
                    <a:pt x="13137" y="20017"/>
                  </a:cubicBezTo>
                  <a:lnTo>
                    <a:pt x="13018" y="21600"/>
                  </a:lnTo>
                  <a:lnTo>
                    <a:pt x="10136" y="18942"/>
                  </a:lnTo>
                  <a:lnTo>
                    <a:pt x="13460" y="15726"/>
                  </a:lnTo>
                  <a:lnTo>
                    <a:pt x="13343" y="17284"/>
                  </a:lnTo>
                  <a:lnTo>
                    <a:pt x="13343" y="17284"/>
                  </a:lnTo>
                  <a:cubicBezTo>
                    <a:pt x="17556" y="15967"/>
                    <a:pt x="19833" y="11696"/>
                    <a:pt x="18429" y="7744"/>
                  </a:cubicBezTo>
                  <a:cubicBezTo>
                    <a:pt x="17025" y="3792"/>
                    <a:pt x="12471" y="1656"/>
                    <a:pt x="8257" y="2973"/>
                  </a:cubicBezTo>
                  <a:cubicBezTo>
                    <a:pt x="4973" y="4000"/>
                    <a:pt x="2758" y="6882"/>
                    <a:pt x="2758" y="1012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70A6DB"/>
                </a:gs>
                <a:gs pos="50000">
                  <a:srgbClr val="559BDB"/>
                </a:gs>
                <a:gs pos="100000">
                  <a:srgbClr val="448AC9"/>
                </a:gs>
              </a:gsLst>
              <a:lin ang="8100000" scaled="0"/>
            </a:gradFill>
            <a:ln w="9525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9" name="Инфо"/>
            <p:cNvSpPr txBox="1"/>
            <p:nvPr/>
          </p:nvSpPr>
          <p:spPr>
            <a:xfrm>
              <a:off x="896354" y="726571"/>
              <a:ext cx="1161664" cy="3441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3334" tIns="13334" rIns="13334" bIns="13334" numCol="1" anchor="ctr">
              <a:spAutoFit/>
            </a:bodyPr>
            <a:lstStyle>
              <a:lvl1pPr algn="ctr" defTabSz="933450">
                <a:lnSpc>
                  <a:spcPct val="90000"/>
                </a:lnSpc>
                <a:spcBef>
                  <a:spcPts val="800"/>
                </a:spcBef>
                <a:defRPr b="1" sz="2100">
                  <a:solidFill>
                    <a:srgbClr val="2F5597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Инфо</a:t>
              </a:r>
            </a:p>
          </p:txBody>
        </p:sp>
        <p:sp>
          <p:nvSpPr>
            <p:cNvPr id="110" name="Shape"/>
            <p:cNvSpPr/>
            <p:nvPr/>
          </p:nvSpPr>
          <p:spPr>
            <a:xfrm>
              <a:off x="0" y="1201151"/>
              <a:ext cx="1534452" cy="19171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55" h="20673" fill="norm" stroke="1" extrusionOk="0">
                  <a:moveTo>
                    <a:pt x="20455" y="2841"/>
                  </a:moveTo>
                  <a:lnTo>
                    <a:pt x="18291" y="4592"/>
                  </a:lnTo>
                  <a:cubicBezTo>
                    <a:pt x="14808" y="1773"/>
                    <a:pt x="9160" y="1772"/>
                    <a:pt x="5676" y="4590"/>
                  </a:cubicBezTo>
                  <a:cubicBezTo>
                    <a:pt x="2192" y="7409"/>
                    <a:pt x="2191" y="11979"/>
                    <a:pt x="5675" y="14798"/>
                  </a:cubicBezTo>
                  <a:cubicBezTo>
                    <a:pt x="6654" y="15591"/>
                    <a:pt x="7848" y="16188"/>
                    <a:pt x="9163" y="16542"/>
                  </a:cubicBezTo>
                  <a:lnTo>
                    <a:pt x="9032" y="15051"/>
                  </a:lnTo>
                  <a:lnTo>
                    <a:pt x="12719" y="18129"/>
                  </a:lnTo>
                  <a:lnTo>
                    <a:pt x="9523" y="20673"/>
                  </a:lnTo>
                  <a:lnTo>
                    <a:pt x="9391" y="19158"/>
                  </a:lnTo>
                  <a:lnTo>
                    <a:pt x="9391" y="19158"/>
                  </a:lnTo>
                  <a:cubicBezTo>
                    <a:pt x="2931" y="18000"/>
                    <a:pt x="-1145" y="12824"/>
                    <a:pt x="287" y="7598"/>
                  </a:cubicBezTo>
                  <a:cubicBezTo>
                    <a:pt x="1718" y="2371"/>
                    <a:pt x="8115" y="-927"/>
                    <a:pt x="14575" y="231"/>
                  </a:cubicBezTo>
                  <a:cubicBezTo>
                    <a:pt x="16802" y="631"/>
                    <a:pt x="18842" y="1536"/>
                    <a:pt x="20455" y="2841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70A6DB"/>
                </a:gs>
                <a:gs pos="50000">
                  <a:srgbClr val="559BDB"/>
                </a:gs>
                <a:gs pos="100000">
                  <a:srgbClr val="448AC9"/>
                </a:gs>
              </a:gsLst>
              <a:lin ang="8100000" scaled="0"/>
            </a:gradFill>
            <a:ln w="9525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1" name="Данные"/>
            <p:cNvSpPr txBox="1"/>
            <p:nvPr/>
          </p:nvSpPr>
          <p:spPr>
            <a:xfrm>
              <a:off x="318075" y="1934864"/>
              <a:ext cx="1161664" cy="3441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3334" tIns="13334" rIns="13334" bIns="13334" numCol="1" anchor="ctr">
              <a:spAutoFit/>
            </a:bodyPr>
            <a:lstStyle>
              <a:lvl1pPr algn="ctr" defTabSz="933450">
                <a:lnSpc>
                  <a:spcPct val="90000"/>
                </a:lnSpc>
                <a:spcBef>
                  <a:spcPts val="800"/>
                </a:spcBef>
                <a:defRPr b="1" sz="2100">
                  <a:solidFill>
                    <a:srgbClr val="2F5597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Данные</a:t>
              </a:r>
            </a:p>
          </p:txBody>
        </p:sp>
        <p:sp>
          <p:nvSpPr>
            <p:cNvPr id="112" name="Shape"/>
            <p:cNvSpPr/>
            <p:nvPr/>
          </p:nvSpPr>
          <p:spPr>
            <a:xfrm>
              <a:off x="583071" y="2399902"/>
              <a:ext cx="1796083" cy="17968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94" h="19678" fill="norm" stroke="1" extrusionOk="0">
                  <a:moveTo>
                    <a:pt x="3014" y="2883"/>
                  </a:moveTo>
                  <a:lnTo>
                    <a:pt x="3014" y="2883"/>
                  </a:lnTo>
                  <a:cubicBezTo>
                    <a:pt x="7035" y="-960"/>
                    <a:pt x="13555" y="-961"/>
                    <a:pt x="17577" y="2881"/>
                  </a:cubicBezTo>
                  <a:cubicBezTo>
                    <a:pt x="21599" y="6722"/>
                    <a:pt x="21600" y="12952"/>
                    <a:pt x="17580" y="16795"/>
                  </a:cubicBezTo>
                  <a:cubicBezTo>
                    <a:pt x="13559" y="20638"/>
                    <a:pt x="7039" y="20639"/>
                    <a:pt x="3017" y="16797"/>
                  </a:cubicBezTo>
                  <a:cubicBezTo>
                    <a:pt x="1085" y="14952"/>
                    <a:pt x="0" y="12449"/>
                    <a:pt x="0" y="9839"/>
                  </a:cubicBezTo>
                  <a:lnTo>
                    <a:pt x="2624" y="9839"/>
                  </a:lnTo>
                  <a:cubicBezTo>
                    <a:pt x="2624" y="13889"/>
                    <a:pt x="6059" y="17172"/>
                    <a:pt x="10297" y="17172"/>
                  </a:cubicBezTo>
                  <a:cubicBezTo>
                    <a:pt x="14535" y="17172"/>
                    <a:pt x="17970" y="13889"/>
                    <a:pt x="17970" y="9839"/>
                  </a:cubicBezTo>
                  <a:cubicBezTo>
                    <a:pt x="17970" y="5789"/>
                    <a:pt x="14535" y="2506"/>
                    <a:pt x="10297" y="2506"/>
                  </a:cubicBezTo>
                  <a:cubicBezTo>
                    <a:pt x="8261" y="2506"/>
                    <a:pt x="6309" y="3279"/>
                    <a:pt x="4870" y="465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70A6DB"/>
                </a:gs>
                <a:gs pos="50000">
                  <a:srgbClr val="559BDB"/>
                </a:gs>
                <a:gs pos="100000">
                  <a:srgbClr val="448AC9"/>
                </a:gs>
              </a:gsLst>
              <a:lin ang="8100000" scaled="0"/>
            </a:gradFill>
            <a:ln w="9525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3" name="Знания"/>
            <p:cNvSpPr txBox="1"/>
            <p:nvPr/>
          </p:nvSpPr>
          <p:spPr>
            <a:xfrm>
              <a:off x="899102" y="3144893"/>
              <a:ext cx="1161664" cy="3441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3334" tIns="13334" rIns="13334" bIns="13334" numCol="1" anchor="ctr">
              <a:spAutoFit/>
            </a:bodyPr>
            <a:lstStyle>
              <a:lvl1pPr algn="ctr" defTabSz="933450">
                <a:lnSpc>
                  <a:spcPct val="90000"/>
                </a:lnSpc>
                <a:spcBef>
                  <a:spcPts val="800"/>
                </a:spcBef>
                <a:defRPr b="1" sz="2100">
                  <a:solidFill>
                    <a:srgbClr val="2F5597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Знания</a:t>
              </a:r>
            </a:p>
          </p:txBody>
        </p:sp>
      </p:grpSp>
      <p:sp>
        <p:nvSpPr>
          <p:cNvPr id="115" name="Объект 2"/>
          <p:cNvSpPr txBox="1"/>
          <p:nvPr/>
        </p:nvSpPr>
        <p:spPr>
          <a:xfrm>
            <a:off x="870634" y="1917113"/>
            <a:ext cx="5092789" cy="131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 algn="just">
              <a:lnSpc>
                <a:spcPct val="150000"/>
              </a:lnSpc>
              <a:buSzPct val="100000"/>
              <a:buFont typeface="Arial"/>
              <a:buChar char="•"/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IP </a:t>
            </a:r>
            <a:r>
              <a:t>адрес относится к </a:t>
            </a:r>
            <a:r>
              <a:t>TOR</a:t>
            </a:r>
          </a:p>
          <a:p>
            <a:pPr marL="228600" indent="-228600" algn="just">
              <a:lnSpc>
                <a:spcPct val="150000"/>
              </a:lnSpc>
              <a:buSzPct val="100000"/>
              <a:buFont typeface="Arial"/>
              <a:buChar char="•"/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Md5 </a:t>
            </a:r>
            <a:r>
              <a:t>имеет отрицательную репутацию</a:t>
            </a:r>
            <a:endParaRPr sz="2800"/>
          </a:p>
          <a:p>
            <a:pPr marL="228600" indent="-228600" algn="just">
              <a:lnSpc>
                <a:spcPct val="150000"/>
              </a:lnSpc>
              <a:buSzPct val="100000"/>
              <a:buFont typeface="Arial"/>
              <a:buChar char="•"/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IP </a:t>
            </a:r>
            <a:r>
              <a:t>адрес легитимный</a:t>
            </a:r>
          </a:p>
        </p:txBody>
      </p:sp>
      <p:sp>
        <p:nvSpPr>
          <p:cNvPr id="116" name="Объект 2"/>
          <p:cNvSpPr txBox="1"/>
          <p:nvPr/>
        </p:nvSpPr>
        <p:spPr>
          <a:xfrm>
            <a:off x="861027" y="1917113"/>
            <a:ext cx="5642351" cy="131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 algn="just">
              <a:lnSpc>
                <a:spcPct val="150000"/>
              </a:lnSpc>
              <a:buSzPct val="100000"/>
              <a:buFont typeface="Arial"/>
              <a:buChar char="•"/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IP </a:t>
            </a:r>
            <a:r>
              <a:t>использовался в кибератаке </a:t>
            </a:r>
            <a:r>
              <a:t>   \/</a:t>
            </a:r>
          </a:p>
          <a:p>
            <a:pPr marL="228600" indent="-228600" algn="just">
              <a:lnSpc>
                <a:spcPct val="150000"/>
              </a:lnSpc>
              <a:buSzPct val="100000"/>
              <a:buFont typeface="Arial"/>
              <a:buChar char="•"/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Файл относится к группировке</a:t>
            </a:r>
            <a:r>
              <a:t> TinyScouts</a:t>
            </a:r>
          </a:p>
          <a:p>
            <a:pPr marL="228600" indent="-228600" algn="just">
              <a:lnSpc>
                <a:spcPct val="150000"/>
              </a:lnSpc>
              <a:buSzPct val="100000"/>
              <a:buFont typeface="Arial"/>
              <a:buChar char="•"/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IP </a:t>
            </a:r>
            <a:r>
              <a:t>принадлежит банку МКБ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xit" nodeType="clickEffect" presetSubtype="2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Class="entr" nodeType="afterEffect" presetSubtype="8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xit" nodeType="clickEffect" presetSubtype="2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Class="entr" nodeType="afterEffect" presetSubtype="8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xit" nodeType="clickEffect" presetSubtype="2" presetID="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16" grpId="5"/>
      <p:bldP build="whole" bldLvl="1" animBg="1" rev="0" advAuto="0" spid="116" grpId="6"/>
      <p:bldP build="whole" bldLvl="1" animBg="1" rev="0" advAuto="0" spid="106" grpId="1"/>
      <p:bldP build="whole" bldLvl="1" animBg="1" rev="0" advAuto="0" spid="106" grpId="2"/>
      <p:bldP build="whole" bldLvl="1" animBg="1" rev="0" advAuto="0" spid="115" grpId="3"/>
      <p:bldP build="whole" bldLvl="1" animBg="1" rev="0" advAuto="0" spid="115" grpId="4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Заголовок 1"/>
          <p:cNvSpPr txBox="1"/>
          <p:nvPr>
            <p:ph type="title"/>
          </p:nvPr>
        </p:nvSpPr>
        <p:spPr>
          <a:xfrm>
            <a:off x="838200" y="489816"/>
            <a:ext cx="6738257" cy="909493"/>
          </a:xfrm>
          <a:prstGeom prst="rect">
            <a:avLst/>
          </a:prstGeom>
        </p:spPr>
        <p:txBody>
          <a:bodyPr/>
          <a:lstStyle>
            <a:lvl1pPr>
              <a:defRPr b="1" sz="28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Типы индикаторов</a:t>
            </a:r>
          </a:p>
        </p:txBody>
      </p:sp>
      <p:sp>
        <p:nvSpPr>
          <p:cNvPr id="119" name="TextBox 5"/>
          <p:cNvSpPr txBox="1"/>
          <p:nvPr/>
        </p:nvSpPr>
        <p:spPr>
          <a:xfrm>
            <a:off x="11727968" y="6258910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5</a:t>
            </a:r>
          </a:p>
        </p:txBody>
      </p:sp>
      <p:pic>
        <p:nvPicPr>
          <p:cNvPr id="120" name="Рисунок 2" descr="Рисунок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8200" y="1554174"/>
            <a:ext cx="9755120" cy="49298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Рисунок 7" descr="Рисунок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59756" y="1709680"/>
            <a:ext cx="5522494" cy="4403195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Заголовок 1"/>
          <p:cNvSpPr txBox="1"/>
          <p:nvPr>
            <p:ph type="title"/>
          </p:nvPr>
        </p:nvSpPr>
        <p:spPr>
          <a:xfrm>
            <a:off x="838200" y="365125"/>
            <a:ext cx="6738257" cy="1325563"/>
          </a:xfrm>
          <a:prstGeom prst="rect">
            <a:avLst/>
          </a:prstGeom>
        </p:spPr>
        <p:txBody>
          <a:bodyPr/>
          <a:lstStyle>
            <a:lvl1pPr>
              <a:defRPr b="1" sz="28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Кто использует индикаторы</a:t>
            </a:r>
          </a:p>
        </p:txBody>
      </p:sp>
      <p:sp>
        <p:nvSpPr>
          <p:cNvPr id="124" name="Объект 2"/>
          <p:cNvSpPr txBox="1"/>
          <p:nvPr>
            <p:ph type="body" sz="quarter" idx="1"/>
          </p:nvPr>
        </p:nvSpPr>
        <p:spPr>
          <a:xfrm>
            <a:off x="838548" y="1709680"/>
            <a:ext cx="6523950" cy="2108804"/>
          </a:xfrm>
          <a:prstGeom prst="rect">
            <a:avLst/>
          </a:prstGeom>
        </p:spPr>
        <p:txBody>
          <a:bodyPr/>
          <a:lstStyle/>
          <a:p>
            <a:pPr marL="0" indent="0" algn="just" defTabSz="566927">
              <a:lnSpc>
                <a:spcPct val="150000"/>
              </a:lnSpc>
              <a:spcBef>
                <a:spcPts val="0"/>
              </a:spcBef>
              <a:buSzTx/>
              <a:buNone/>
              <a:defRPr sz="124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Возвращаясь к истокам киберразведки:</a:t>
            </a:r>
          </a:p>
          <a:p>
            <a:pPr marL="141731" indent="-141731" algn="just" defTabSz="566927">
              <a:lnSpc>
                <a:spcPct val="150000"/>
              </a:lnSpc>
              <a:spcBef>
                <a:spcPts val="0"/>
              </a:spcBef>
              <a:defRPr sz="124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</a:p>
          <a:p>
            <a:pPr marL="141731" indent="-141731" algn="just" defTabSz="566927">
              <a:lnSpc>
                <a:spcPct val="150000"/>
              </a:lnSpc>
              <a:spcBef>
                <a:spcPts val="0"/>
              </a:spcBef>
              <a:defRPr sz="124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На стратегическом уровне </a:t>
            </a:r>
            <a:r>
              <a:t>–</a:t>
            </a:r>
            <a:r>
              <a:t> высшее руководство</a:t>
            </a:r>
          </a:p>
          <a:p>
            <a:pPr marL="141731" indent="-141731" algn="just" defTabSz="566927">
              <a:lnSpc>
                <a:spcPct val="150000"/>
              </a:lnSpc>
              <a:spcBef>
                <a:spcPts val="0"/>
              </a:spcBef>
              <a:defRPr sz="124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</a:p>
          <a:p>
            <a:pPr marL="141731" indent="-141731" algn="just" defTabSz="566927">
              <a:lnSpc>
                <a:spcPct val="150000"/>
              </a:lnSpc>
              <a:spcBef>
                <a:spcPts val="0"/>
              </a:spcBef>
              <a:defRPr sz="124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На оперативном </a:t>
            </a:r>
            <a:r>
              <a:t>–</a:t>
            </a:r>
            <a:r>
              <a:t> главные специалисты</a:t>
            </a:r>
          </a:p>
          <a:p>
            <a:pPr marL="141731" indent="-141731" algn="just" defTabSz="566927">
              <a:lnSpc>
                <a:spcPct val="150000"/>
              </a:lnSpc>
              <a:spcBef>
                <a:spcPts val="0"/>
              </a:spcBef>
              <a:defRPr sz="124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</a:p>
          <a:p>
            <a:pPr marL="141731" indent="-141731" algn="just" defTabSz="566927">
              <a:lnSpc>
                <a:spcPct val="150000"/>
              </a:lnSpc>
              <a:spcBef>
                <a:spcPts val="0"/>
              </a:spcBef>
              <a:defRPr sz="124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На тактическом - аналитики</a:t>
            </a:r>
          </a:p>
        </p:txBody>
      </p:sp>
      <p:sp>
        <p:nvSpPr>
          <p:cNvPr id="125" name="TextBox 5"/>
          <p:cNvSpPr txBox="1"/>
          <p:nvPr/>
        </p:nvSpPr>
        <p:spPr>
          <a:xfrm>
            <a:off x="11727968" y="6258910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Заголовок 1"/>
          <p:cNvSpPr txBox="1"/>
          <p:nvPr>
            <p:ph type="title"/>
          </p:nvPr>
        </p:nvSpPr>
        <p:spPr>
          <a:xfrm>
            <a:off x="838200" y="365125"/>
            <a:ext cx="6738257" cy="1325563"/>
          </a:xfrm>
          <a:prstGeom prst="rect">
            <a:avLst/>
          </a:prstGeom>
        </p:spPr>
        <p:txBody>
          <a:bodyPr/>
          <a:lstStyle>
            <a:lvl1pPr>
              <a:defRPr b="1" sz="28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Инструменты интеграции</a:t>
            </a:r>
          </a:p>
        </p:txBody>
      </p:sp>
      <p:sp>
        <p:nvSpPr>
          <p:cNvPr id="128" name="TextBox 5"/>
          <p:cNvSpPr txBox="1"/>
          <p:nvPr/>
        </p:nvSpPr>
        <p:spPr>
          <a:xfrm>
            <a:off x="11727968" y="6258910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7</a:t>
            </a:r>
          </a:p>
        </p:txBody>
      </p:sp>
      <p:pic>
        <p:nvPicPr>
          <p:cNvPr id="129" name="Рисунок 7" descr="Рисунок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7697" y="1548798"/>
            <a:ext cx="9322677" cy="39839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Заголовок 1"/>
          <p:cNvSpPr txBox="1"/>
          <p:nvPr>
            <p:ph type="title"/>
          </p:nvPr>
        </p:nvSpPr>
        <p:spPr>
          <a:xfrm>
            <a:off x="838200" y="365125"/>
            <a:ext cx="6738257" cy="1325563"/>
          </a:xfrm>
          <a:prstGeom prst="rect">
            <a:avLst/>
          </a:prstGeom>
        </p:spPr>
        <p:txBody>
          <a:bodyPr/>
          <a:lstStyle>
            <a:lvl1pPr>
              <a:defRPr b="1" sz="28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Что именно влияет на релевантность?</a:t>
            </a:r>
          </a:p>
        </p:txBody>
      </p:sp>
      <p:sp>
        <p:nvSpPr>
          <p:cNvPr id="132" name="TextBox 5"/>
          <p:cNvSpPr txBox="1"/>
          <p:nvPr/>
        </p:nvSpPr>
        <p:spPr>
          <a:xfrm>
            <a:off x="11727968" y="6258910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8</a:t>
            </a:r>
          </a:p>
        </p:txBody>
      </p:sp>
      <p:sp>
        <p:nvSpPr>
          <p:cNvPr id="133" name="Финансовая сфера…"/>
          <p:cNvSpPr txBox="1"/>
          <p:nvPr>
            <p:ph type="body" idx="1"/>
          </p:nvPr>
        </p:nvSpPr>
        <p:spPr>
          <a:xfrm>
            <a:off x="704537" y="1825625"/>
            <a:ext cx="10777930" cy="4351338"/>
          </a:xfrm>
          <a:prstGeom prst="rect">
            <a:avLst/>
          </a:prstGeo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None/>
              <a:defRPr b="1"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Финансовая сфера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None/>
              <a:defRPr b="1"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</a:p>
          <a:p>
            <a:pPr algn="just"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Гео - РФ и СНГ;</a:t>
            </a:r>
          </a:p>
          <a:p>
            <a:pPr algn="just"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Сфера - финтех и банки;</a:t>
            </a:r>
          </a:p>
          <a:p>
            <a:pPr algn="just"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Вид атаки - DDOS, ransom;</a:t>
            </a:r>
          </a:p>
          <a:p>
            <a:pPr algn="just"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Мотивация атакующих - любая;</a:t>
            </a:r>
          </a:p>
          <a:p>
            <a:pPr algn="just"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Дата атаки - последние 6 месяцев;</a:t>
            </a:r>
          </a:p>
          <a:p>
            <a:pPr algn="just"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</a:p>
          <a:p>
            <a:pPr algn="just"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Важно! Если атака была на Банк вне РФ и завершилась успешно - все равно стоит просмотреть отчет о вредоносной активности и сделать выводы!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Заголовок 1"/>
          <p:cNvSpPr txBox="1"/>
          <p:nvPr>
            <p:ph type="title"/>
          </p:nvPr>
        </p:nvSpPr>
        <p:spPr>
          <a:xfrm>
            <a:off x="838200" y="365125"/>
            <a:ext cx="6738257" cy="1325563"/>
          </a:xfrm>
          <a:prstGeom prst="rect">
            <a:avLst/>
          </a:prstGeom>
        </p:spPr>
        <p:txBody>
          <a:bodyPr/>
          <a:lstStyle>
            <a:lvl1pPr>
              <a:defRPr b="1" sz="28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Методика расчета релевантности источника</a:t>
            </a:r>
          </a:p>
        </p:txBody>
      </p:sp>
      <p:sp>
        <p:nvSpPr>
          <p:cNvPr id="136" name="TextBox 5"/>
          <p:cNvSpPr txBox="1"/>
          <p:nvPr/>
        </p:nvSpPr>
        <p:spPr>
          <a:xfrm>
            <a:off x="11727968" y="6258910"/>
            <a:ext cx="2200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9</a:t>
            </a:r>
          </a:p>
        </p:txBody>
      </p:sp>
      <p:graphicFrame>
        <p:nvGraphicFramePr>
          <p:cNvPr id="137" name="Table"/>
          <p:cNvGraphicFramePr/>
          <p:nvPr/>
        </p:nvGraphicFramePr>
        <p:xfrm>
          <a:off x="889018" y="2576612"/>
          <a:ext cx="6649321" cy="3176409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1" rtl="0">
                <a:tableStyleId>{4C3C2611-4C71-4FC5-86AE-919BDF0F9419}</a:tableStyleId>
              </a:tblPr>
              <a:tblGrid>
                <a:gridCol w="1173808"/>
                <a:gridCol w="1093417"/>
                <a:gridCol w="1094687"/>
                <a:gridCol w="1145837"/>
                <a:gridCol w="1038118"/>
                <a:gridCol w="1090750"/>
              </a:tblGrid>
              <a:tr h="220156">
                <a:tc>
                  <a:txBody>
                    <a:bodyPr/>
                    <a:lstStyle/>
                    <a:p>
                      <a:pPr algn="l">
                        <a:def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</a:txBody>
                  <a:tcPr marL="0" marR="0" marT="0" marB="0" anchor="t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anchor="t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0" marR="0" marT="0" marB="0" anchor="t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0" marR="0" marT="0" marB="0" anchor="t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0" marR="0" marT="0" marB="0" anchor="t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0" marR="0" marT="0" marB="0" anchor="t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574574"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Наличие основания для эффективных действий и выводов 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T w="127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Информация не привела ни к каким действиям по реагированию</a:t>
                      </a:r>
                    </a:p>
                  </a:txBody>
                  <a:tcPr marL="0" marR="0" marT="0" marB="0" anchor="ctr" anchorCtr="0" horzOverflow="overflow">
                    <a:lnT w="127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Информация привела к ограниченным действиям по реагированию</a:t>
                      </a:r>
                    </a:p>
                  </a:txBody>
                  <a:tcPr marL="0" marR="0" marT="0" marB="0" anchor="ctr" anchorCtr="0" horzOverflow="overflow">
                    <a:lnT w="127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Информация позволила сделать выводы с различной степенью реагирования</a:t>
                      </a:r>
                    </a:p>
                  </a:txBody>
                  <a:tcPr marL="0" marR="0" marT="0" marB="0" anchor="ctr" anchorCtr="0" horzOverflow="overflow">
                    <a:lnT w="127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Информация позволила осуществить реагирование</a:t>
                      </a:r>
                    </a:p>
                  </a:txBody>
                  <a:tcPr marL="0" marR="0" marT="0" marB="0" anchor="ctr" anchorCtr="0" horzOverflow="overflow">
                    <a:lnT w="127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Информация регулярно позволяет осуществлять реагирование</a:t>
                      </a:r>
                    </a:p>
                  </a:txBody>
                  <a:tcPr marL="0" marR="0" marT="0" marB="0" anchor="ctr" anchorCtr="0" horzOverflow="overflow">
                    <a:lnT w="12700">
                      <a:solidFill>
                        <a:srgbClr val="000000"/>
                      </a:solidFill>
                      <a:miter lim="400000"/>
                    </a:lnT>
                  </a:tcPr>
                </a:tc>
              </a:tr>
              <a:tr h="676827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Содержательность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 информации есть значительные пробелы, не позволяющие закончить анализ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 информации есть определенные пробелы, позволяющие частичный анализ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 информации есть определенные пробелы, позволяющие полноценный анализ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 информации есть незначительные пробелы, позволяющие провести анализ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Информация регулярно предоставляет полное описание угрозы</a:t>
                      </a:r>
                    </a:p>
                  </a:txBody>
                  <a:tcPr marL="0" marR="0" marT="0" marB="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558928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Своевременность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Информация уже была получена из другого источника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Информация регулярно позднее остальных источников</a:t>
                      </a:r>
                    </a:p>
                  </a:txBody>
                  <a:tcPr marL="0" marR="0" marT="0" marB="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Информация одновременно с остальными источниками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Информация иногда ранее остальных источников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Информация регулярно ранее остальных источников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561469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Соответствие требованиям компании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Информация не соответствует требованиям CTI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Информация имеет ограниченное соответствие требованиям CTI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Информация периодически соответствует требованиям CTI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Информация обычно соответствует требованиям CTI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Информация полностью соответствует требованиям CTI</a:t>
                      </a:r>
                    </a:p>
                  </a:txBody>
                  <a:tcPr marL="0" marR="0" marT="0" marB="0" anchor="ctr" anchorCtr="0" horzOverflow="overflow"/>
                </a:tc>
              </a:tr>
              <a:tr h="561469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Достоверность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Информация не подтверждена ни одни другим источником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Информация ограниченно подтверждена другими источниками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Часть информации подтверждена другими источниками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Информация подтверждена другими источниками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defRPr sz="1800"/>
                      </a:pPr>
                      <a:r>
                        <a:rPr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Информация регулярно подтверждается другими источниками</a:t>
                      </a:r>
                    </a:p>
                  </a:txBody>
                  <a:tcPr marL="0" marR="0" marT="0" marB="0" anchor="ctr" anchorCtr="0" horzOverflow="overflow"/>
                </a:tc>
              </a:tr>
            </a:tbl>
          </a:graphicData>
        </a:graphic>
      </p:graphicFrame>
      <p:graphicFrame>
        <p:nvGraphicFramePr>
          <p:cNvPr id="138" name="Table"/>
          <p:cNvGraphicFramePr/>
          <p:nvPr/>
        </p:nvGraphicFramePr>
        <p:xfrm>
          <a:off x="8470008" y="3431647"/>
          <a:ext cx="3314701" cy="14859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1" rtl="0">
                <a:tableStyleId>{4C3C2611-4C71-4FC5-86AE-919BDF0F9419}</a:tableStyleId>
              </a:tblPr>
              <a:tblGrid>
                <a:gridCol w="1295220"/>
                <a:gridCol w="2080432"/>
              </a:tblGrid>
              <a:tr h="288671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Приоритет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Интервал оценки (x)</a:t>
                      </a:r>
                    </a:p>
                  </a:txBody>
                  <a:tcPr marL="0" marR="0" marT="0" marB="0" anchor="t" anchorCtr="0" horzOverflow="overflow"/>
                </a:tc>
              </a:tr>
              <a:tr h="288671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Низкий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&lt;= 2</a:t>
                      </a:r>
                    </a:p>
                  </a:txBody>
                  <a:tcPr marL="0" marR="0" marT="0" marB="0" anchor="t" anchorCtr="0" horzOverflow="overflow"/>
                </a:tc>
              </a:tr>
              <a:tr h="288671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Средний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&lt; X &lt;=3</a:t>
                      </a:r>
                    </a:p>
                  </a:txBody>
                  <a:tcPr marL="0" marR="0" marT="0" marB="0" anchor="t" anchorCtr="0" horzOverflow="overflow"/>
                </a:tc>
              </a:tr>
              <a:tr h="288671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Высокий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&lt; X &lt;=4</a:t>
                      </a:r>
                    </a:p>
                  </a:txBody>
                  <a:tcPr marL="0" marR="0" marT="0" marB="0" anchor="t" anchorCtr="0" horzOverflow="overflow"/>
                </a:tc>
              </a:tr>
              <a:tr h="288671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Критичный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&gt; 4</a:t>
                      </a:r>
                    </a:p>
                  </a:txBody>
                  <a:tcPr marL="0" marR="0" marT="0" marB="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Заголовок 1"/>
          <p:cNvSpPr txBox="1"/>
          <p:nvPr>
            <p:ph type="title"/>
          </p:nvPr>
        </p:nvSpPr>
        <p:spPr>
          <a:xfrm>
            <a:off x="838200" y="365125"/>
            <a:ext cx="6738257" cy="1325563"/>
          </a:xfrm>
          <a:prstGeom prst="rect">
            <a:avLst/>
          </a:prstGeom>
        </p:spPr>
        <p:txBody>
          <a:bodyPr/>
          <a:lstStyle>
            <a:lvl1pPr>
              <a:defRPr b="1" sz="28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В каком формате поступает индикатор компрометации</a:t>
            </a:r>
          </a:p>
        </p:txBody>
      </p:sp>
      <p:sp>
        <p:nvSpPr>
          <p:cNvPr id="141" name="TextBox 5"/>
          <p:cNvSpPr txBox="1"/>
          <p:nvPr/>
        </p:nvSpPr>
        <p:spPr>
          <a:xfrm>
            <a:off x="11727968" y="6258910"/>
            <a:ext cx="335867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10</a:t>
            </a:r>
          </a:p>
        </p:txBody>
      </p:sp>
      <p:pic>
        <p:nvPicPr>
          <p:cNvPr id="142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6996" y="1727905"/>
            <a:ext cx="5180611" cy="4635285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(Знаю, что индикаторы от 23го года,…"/>
          <p:cNvSpPr txBox="1"/>
          <p:nvPr/>
        </p:nvSpPr>
        <p:spPr>
          <a:xfrm>
            <a:off x="6715654" y="2491097"/>
            <a:ext cx="5484402" cy="131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just">
              <a:buFont typeface="Arial"/>
              <a:defRPr b="1"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(Знаю, что индикаторы от 23го года,</a:t>
            </a:r>
          </a:p>
          <a:p>
            <a:pPr algn="just">
              <a:buFont typeface="Arial"/>
              <a:defRPr b="1"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 это демка. Бой еще не в тесте даже(</a:t>
            </a:r>
          </a:p>
          <a:p>
            <a:pPr algn="just">
              <a:buFont typeface="Arial"/>
              <a:defRPr b="1"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Как будут нормальные боевые данные -</a:t>
            </a:r>
          </a:p>
          <a:p>
            <a:pPr algn="just">
              <a:buFont typeface="Arial"/>
              <a:defRPr b="1"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Обновлю скрины)</a:t>
            </a:r>
          </a:p>
        </p:txBody>
      </p:sp>
      <p:pic>
        <p:nvPicPr>
          <p:cNvPr id="144" name="Screenshot 2025-04-15 at 1.11.20 AM.png" descr="Screenshot 2025-04-15 at 1.11.20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86175" y="3937543"/>
            <a:ext cx="5472030" cy="14296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Заголовок 1"/>
          <p:cNvSpPr txBox="1"/>
          <p:nvPr>
            <p:ph type="title"/>
          </p:nvPr>
        </p:nvSpPr>
        <p:spPr>
          <a:xfrm>
            <a:off x="838200" y="365125"/>
            <a:ext cx="6738257" cy="1325563"/>
          </a:xfrm>
          <a:prstGeom prst="rect">
            <a:avLst/>
          </a:prstGeom>
        </p:spPr>
        <p:txBody>
          <a:bodyPr/>
          <a:lstStyle/>
          <a:p>
            <a:pPr>
              <a:defRPr b="1" sz="28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Пример работы </a:t>
            </a:r>
          </a:p>
          <a:p>
            <a:pPr>
              <a:defRPr b="1" sz="28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информационной системы</a:t>
            </a:r>
          </a:p>
        </p:txBody>
      </p:sp>
      <p:sp>
        <p:nvSpPr>
          <p:cNvPr id="147" name="TextBox 5"/>
          <p:cNvSpPr txBox="1"/>
          <p:nvPr/>
        </p:nvSpPr>
        <p:spPr>
          <a:xfrm>
            <a:off x="11727968" y="6258910"/>
            <a:ext cx="335867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11</a:t>
            </a:r>
          </a:p>
        </p:txBody>
      </p:sp>
      <p:pic>
        <p:nvPicPr>
          <p:cNvPr id="14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6688" y="1611855"/>
            <a:ext cx="4132922" cy="48365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330244" y="2834644"/>
            <a:ext cx="5935980" cy="32891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330244" y="1936421"/>
            <a:ext cx="5935980" cy="7220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Заголовок 1"/>
          <p:cNvSpPr txBox="1"/>
          <p:nvPr>
            <p:ph type="title"/>
          </p:nvPr>
        </p:nvSpPr>
        <p:spPr>
          <a:xfrm>
            <a:off x="838200" y="365125"/>
            <a:ext cx="6738257" cy="1325563"/>
          </a:xfrm>
          <a:prstGeom prst="rect">
            <a:avLst/>
          </a:prstGeom>
        </p:spPr>
        <p:txBody>
          <a:bodyPr/>
          <a:lstStyle/>
          <a:p>
            <a:pPr>
              <a:defRPr b="1" sz="28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Пример работы </a:t>
            </a:r>
          </a:p>
          <a:p>
            <a:pPr>
              <a:defRPr b="1" sz="28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информационной системы</a:t>
            </a:r>
          </a:p>
        </p:txBody>
      </p:sp>
      <p:sp>
        <p:nvSpPr>
          <p:cNvPr id="153" name="TextBox 5"/>
          <p:cNvSpPr txBox="1"/>
          <p:nvPr/>
        </p:nvSpPr>
        <p:spPr>
          <a:xfrm>
            <a:off x="11727968" y="6258910"/>
            <a:ext cx="335867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12</a:t>
            </a:r>
          </a:p>
        </p:txBody>
      </p:sp>
      <p:sp>
        <p:nvSpPr>
          <p:cNvPr id="154" name="Здесь у меня будет результат атрибуции индикатора…"/>
          <p:cNvSpPr txBox="1"/>
          <p:nvPr/>
        </p:nvSpPr>
        <p:spPr>
          <a:xfrm>
            <a:off x="2555578" y="3509499"/>
            <a:ext cx="7241938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just">
              <a:buFont typeface="Arial"/>
              <a:defRPr b="1"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Здесь у меня будет результат атрибуции индикатора </a:t>
            </a:r>
          </a:p>
          <a:p>
            <a:pPr algn="just">
              <a:buFont typeface="Arial"/>
              <a:defRPr b="1"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По релевантности, рассчитанной в ИС</a:t>
            </a:r>
          </a:p>
          <a:p>
            <a:pPr algn="just">
              <a:buFont typeface="Arial"/>
              <a:defRPr b="1"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ИС нет еще - нет и слайда :)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Заголовок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28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Заключение</a:t>
            </a:r>
          </a:p>
        </p:txBody>
      </p:sp>
      <p:sp>
        <p:nvSpPr>
          <p:cNvPr id="157" name="Объект 2"/>
          <p:cNvSpPr txBox="1"/>
          <p:nvPr>
            <p:ph type="body" idx="1"/>
          </p:nvPr>
        </p:nvSpPr>
        <p:spPr>
          <a:xfrm>
            <a:off x="483563" y="1643081"/>
            <a:ext cx="10777930" cy="4351339"/>
          </a:xfrm>
          <a:prstGeom prst="rect">
            <a:avLst/>
          </a:prstGeo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None/>
              <a:defRPr b="1"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Цель достигнута </a:t>
            </a:r>
            <a:r>
              <a:rPr b="0"/>
              <a:t>– проведен анализ факторов, влияющих на релевантность индикатора, спроектирована, отлажена и запущена программа для оценки входящих индикаторов компрометации</a:t>
            </a:r>
            <a:endParaRPr b="0"/>
          </a:p>
          <a:p>
            <a:pPr marL="0" indent="0">
              <a:lnSpc>
                <a:spcPct val="100000"/>
              </a:lnSpc>
              <a:spcBef>
                <a:spcPts val="0"/>
              </a:spcBef>
              <a:buSzTx/>
              <a:buNone/>
              <a:defRPr b="1"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</a:p>
          <a:p>
            <a:pPr marL="0" indent="0">
              <a:lnSpc>
                <a:spcPct val="100000"/>
              </a:lnSpc>
              <a:spcBef>
                <a:spcPts val="0"/>
              </a:spcBef>
              <a:buSzTx/>
              <a:buNone/>
              <a:defRPr b="1"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Выполнены задачи работы:</a:t>
            </a:r>
          </a:p>
          <a:p>
            <a:pPr algn="just"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Определены основные источники и виды индикаторов компрометации, юридические и правовые аспекты и стандарты при их обмене</a:t>
            </a:r>
          </a:p>
          <a:p>
            <a:pPr algn="just"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Разработка критериев для оценки релевантности индикаторов компрометации в финансовой сфере</a:t>
            </a:r>
          </a:p>
          <a:p>
            <a:pPr algn="just">
              <a:defRPr sz="20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Разработка информационной системы оценки релевантности индикатора компрометации в финансовой сфере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Заголовок 1"/>
          <p:cNvSpPr txBox="1"/>
          <p:nvPr>
            <p:ph type="title"/>
          </p:nvPr>
        </p:nvSpPr>
        <p:spPr>
          <a:xfrm>
            <a:off x="0" y="2603829"/>
            <a:ext cx="10515600" cy="1325564"/>
          </a:xfrm>
          <a:prstGeom prst="rect">
            <a:avLst/>
          </a:prstGeom>
        </p:spPr>
        <p:txBody>
          <a:bodyPr/>
          <a:lstStyle>
            <a:lvl1pPr>
              <a:defRPr b="1" sz="2800">
                <a:solidFill>
                  <a:srgbClr val="2F5597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Спасибо за внимание!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